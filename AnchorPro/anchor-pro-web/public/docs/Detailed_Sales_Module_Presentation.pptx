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224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1828800"/>
            <a:ext cx="77724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 i="0">
                <a:solidFill>
                  <a:srgbClr val="C8DCF0"/>
                </a:solidFill>
                <a:latin typeface="Arial"/>
              </a:rPr>
              <a:t>Standard Operating Procedure
</a:t>
            </a:r>
          </a:p>
          <a:p>
            <a:pPr algn="l">
              <a:spcBef>
                <a:spcPts val="1200"/>
              </a:spcBef>
            </a:pPr>
            <a:r>
              <a:rPr sz="4000" b="1" i="0">
                <a:solidFill>
                  <a:srgbClr val="FFFFFF"/>
                </a:solidFill>
                <a:latin typeface="Arial"/>
              </a:rPr>
              <a:t>Sales &amp; Customer Module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 i="0">
                <a:solidFill>
                  <a:srgbClr val="0F2240"/>
                </a:solidFill>
                <a:latin typeface="Arial"/>
              </a:rPr>
              <a:t>1. Sales &amp; Customer Hub</a:t>
            </a:r>
          </a:p>
        </p:txBody>
      </p:sp>
      <p:sp>
        <p:nvSpPr>
          <p:cNvPr id="3" name="Oval 2"/>
          <p:cNvSpPr/>
          <p:nvPr/>
        </p:nvSpPr>
        <p:spPr>
          <a:xfrm>
            <a:off x="457200" y="1097280"/>
            <a:ext cx="8229600" cy="0"/>
          </a:xfrm>
          <a:prstGeom prst="ellipse">
            <a:avLst/>
          </a:prstGeom>
          <a:ln w="25400">
            <a:solidFill>
              <a:srgbClr val="0F22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</a:pPr>
            <a:r>
              <a:rPr sz="1800" b="1" i="0">
                <a:solidFill>
                  <a:srgbClr val="212121"/>
                </a:solidFill>
                <a:latin typeface="Arial"/>
              </a:rPr>
              <a:t>• Client Directory:</a:t>
            </a:r>
            <a:r>
              <a:rPr sz="1600" b="0" i="0">
                <a:solidFill>
                  <a:srgbClr val="505050"/>
                </a:solidFill>
                <a:latin typeface="Arial"/>
              </a:rPr>
              <a:t> Foundational CRM for managing customer profiles.</a:t>
            </a:r>
          </a:p>
          <a:p>
            <a:pPr>
              <a:spcBef>
                <a:spcPts val="1200"/>
              </a:spcBef>
            </a:pPr>
            <a:r>
              <a:rPr sz="1800" b="1" i="0">
                <a:solidFill>
                  <a:srgbClr val="212121"/>
                </a:solidFill>
                <a:latin typeface="Arial"/>
              </a:rPr>
              <a:t>• Contract Registry:</a:t>
            </a:r>
            <a:r>
              <a:rPr sz="1600" b="0" i="0">
                <a:solidFill>
                  <a:srgbClr val="505050"/>
                </a:solidFill>
                <a:latin typeface="Arial"/>
              </a:rPr>
              <a:t> Track high-level agreements, lifecycles, and SLAs.</a:t>
            </a:r>
          </a:p>
          <a:p>
            <a:pPr>
              <a:spcBef>
                <a:spcPts val="1200"/>
              </a:spcBef>
            </a:pPr>
            <a:r>
              <a:rPr sz="1800" b="1" i="0">
                <a:solidFill>
                  <a:srgbClr val="212121"/>
                </a:solidFill>
                <a:latin typeface="Arial"/>
              </a:rPr>
              <a:t>• Quotation Engine:</a:t>
            </a:r>
            <a:r>
              <a:rPr sz="1600" b="0" i="0">
                <a:solidFill>
                  <a:srgbClr val="505050"/>
                </a:solidFill>
                <a:latin typeface="Arial"/>
              </a:rPr>
              <a:t> Drive the revenue cycle directly from active Job Cards.</a:t>
            </a:r>
          </a:p>
          <a:p>
            <a:pPr>
              <a:spcBef>
                <a:spcPts val="1200"/>
              </a:spcBef>
            </a:pPr>
            <a:r>
              <a:rPr sz="1800" b="1" i="0">
                <a:solidFill>
                  <a:srgbClr val="212121"/>
                </a:solidFill>
                <a:latin typeface="Arial"/>
              </a:rPr>
              <a:t>• Document Flow:</a:t>
            </a:r>
            <a:r>
              <a:rPr sz="1600" b="0" i="0">
                <a:solidFill>
                  <a:srgbClr val="505050"/>
                </a:solidFill>
                <a:latin typeface="Arial"/>
              </a:rPr>
              <a:t> Seamless transition from Service Order to Invoice.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 i="0">
                <a:solidFill>
                  <a:srgbClr val="0F2240"/>
                </a:solidFill>
                <a:latin typeface="Arial"/>
              </a:rPr>
              <a:t>2. CRM Profile Management</a:t>
            </a:r>
          </a:p>
        </p:txBody>
      </p:sp>
      <p:sp>
        <p:nvSpPr>
          <p:cNvPr id="3" name="Oval 2"/>
          <p:cNvSpPr/>
          <p:nvPr/>
        </p:nvSpPr>
        <p:spPr>
          <a:xfrm>
            <a:off x="457200" y="1097280"/>
            <a:ext cx="8229600" cy="0"/>
          </a:xfrm>
          <a:prstGeom prst="ellipse">
            <a:avLst/>
          </a:prstGeom>
          <a:ln w="25400">
            <a:solidFill>
              <a:srgbClr val="0F22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</a:pPr>
            <a:r>
              <a:rPr sz="1800" b="1" i="0">
                <a:solidFill>
                  <a:srgbClr val="212121"/>
                </a:solidFill>
                <a:latin typeface="Arial"/>
              </a:rPr>
              <a:t>• Core Entities:</a:t>
            </a:r>
            <a:r>
              <a:rPr sz="1600" b="0" i="0">
                <a:solidFill>
                  <a:srgbClr val="505050"/>
                </a:solidFill>
                <a:latin typeface="Arial"/>
              </a:rPr>
              <a:t> Track the primary Company/Customer Name and identifiers.</a:t>
            </a:r>
          </a:p>
          <a:p>
            <a:pPr>
              <a:spcBef>
                <a:spcPts val="1200"/>
              </a:spcBef>
            </a:pPr>
            <a:r>
              <a:rPr sz="1800" b="1" i="0">
                <a:solidFill>
                  <a:srgbClr val="212121"/>
                </a:solidFill>
                <a:latin typeface="Arial"/>
              </a:rPr>
              <a:t>• Primary Contact:</a:t>
            </a:r>
            <a:r>
              <a:rPr sz="1600" b="0" i="0">
                <a:solidFill>
                  <a:srgbClr val="505050"/>
                </a:solidFill>
                <a:latin typeface="Arial"/>
              </a:rPr>
              <a:t> Assign a dedicated contact person, email, and phone number.</a:t>
            </a:r>
          </a:p>
          <a:p>
            <a:pPr>
              <a:spcBef>
                <a:spcPts val="1200"/>
              </a:spcBef>
            </a:pPr>
            <a:r>
              <a:rPr sz="1800" b="1" i="0">
                <a:solidFill>
                  <a:srgbClr val="212121"/>
                </a:solidFill>
                <a:latin typeface="Arial"/>
              </a:rPr>
              <a:t>• Address Logging:</a:t>
            </a:r>
            <a:r>
              <a:rPr sz="1600" b="0" i="0">
                <a:solidFill>
                  <a:srgbClr val="505050"/>
                </a:solidFill>
                <a:latin typeface="Arial"/>
              </a:rPr>
              <a:t> Log physical and billing addresses via free-form text.</a:t>
            </a:r>
          </a:p>
          <a:p>
            <a:pPr>
              <a:spcBef>
                <a:spcPts val="1200"/>
              </a:spcBef>
            </a:pPr>
            <a:r>
              <a:rPr sz="1800" b="1" i="0">
                <a:solidFill>
                  <a:srgbClr val="212121"/>
                </a:solidFill>
                <a:latin typeface="Arial"/>
              </a:rPr>
              <a:t>• Integrated Linking:</a:t>
            </a:r>
            <a:r>
              <a:rPr sz="1600" b="0" i="0">
                <a:solidFill>
                  <a:srgbClr val="505050"/>
                </a:solidFill>
                <a:latin typeface="Arial"/>
              </a:rPr>
              <a:t> Customer profiles link directly to all subsequent financial documents.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 i="0">
                <a:solidFill>
                  <a:srgbClr val="0F2240"/>
                </a:solidFill>
                <a:latin typeface="Arial"/>
              </a:rPr>
              <a:t>3. Client Contracts &amp; SLAs</a:t>
            </a:r>
          </a:p>
        </p:txBody>
      </p:sp>
      <p:sp>
        <p:nvSpPr>
          <p:cNvPr id="3" name="Oval 2"/>
          <p:cNvSpPr/>
          <p:nvPr/>
        </p:nvSpPr>
        <p:spPr>
          <a:xfrm>
            <a:off x="457200" y="1097280"/>
            <a:ext cx="8229600" cy="0"/>
          </a:xfrm>
          <a:prstGeom prst="ellipse">
            <a:avLst/>
          </a:prstGeom>
          <a:ln w="25400">
            <a:solidFill>
              <a:srgbClr val="0F22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</a:pPr>
            <a:r>
              <a:rPr sz="1800" b="1" i="0">
                <a:solidFill>
                  <a:srgbClr val="212121"/>
                </a:solidFill>
                <a:latin typeface="Arial"/>
              </a:rPr>
              <a:t>• Active Registry:</a:t>
            </a:r>
            <a:r>
              <a:rPr sz="1600" b="0" i="0">
                <a:solidFill>
                  <a:srgbClr val="505050"/>
                </a:solidFill>
                <a:latin typeface="Arial"/>
              </a:rPr>
              <a:t> Monitor Contract Title, Start/End Dates, and Status.</a:t>
            </a:r>
          </a:p>
          <a:p>
            <a:pPr>
              <a:spcBef>
                <a:spcPts val="1200"/>
              </a:spcBef>
            </a:pPr>
            <a:r>
              <a:rPr sz="1800" b="1" i="0">
                <a:solidFill>
                  <a:srgbClr val="212121"/>
                </a:solidFill>
                <a:latin typeface="Arial"/>
              </a:rPr>
              <a:t>• KPI Rollup:</a:t>
            </a:r>
            <a:r>
              <a:rPr sz="1600" b="0" i="0">
                <a:solidFill>
                  <a:srgbClr val="505050"/>
                </a:solidFill>
                <a:latin typeface="Arial"/>
              </a:rPr>
              <a:t> Contract Values roll up into the dashboard's 'Total Value' metric.</a:t>
            </a:r>
          </a:p>
          <a:p>
            <a:pPr>
              <a:spcBef>
                <a:spcPts val="1200"/>
              </a:spcBef>
            </a:pPr>
            <a:r>
              <a:rPr sz="1800" b="1" i="0">
                <a:solidFill>
                  <a:srgbClr val="212121"/>
                </a:solidFill>
                <a:latin typeface="Arial"/>
              </a:rPr>
              <a:t>• SLA Documentation:</a:t>
            </a:r>
            <a:r>
              <a:rPr sz="1600" b="0" i="0">
                <a:solidFill>
                  <a:srgbClr val="505050"/>
                </a:solidFill>
                <a:latin typeface="Arial"/>
              </a:rPr>
              <a:t> Log specific response times and MTTR within the Terms notes.</a:t>
            </a:r>
          </a:p>
          <a:p>
            <a:pPr>
              <a:spcBef>
                <a:spcPts val="1200"/>
              </a:spcBef>
            </a:pPr>
            <a:r>
              <a:rPr sz="1800" b="1" i="0">
                <a:solidFill>
                  <a:srgbClr val="212121"/>
                </a:solidFill>
                <a:latin typeface="Arial"/>
              </a:rPr>
              <a:t>• Reference Tool:</a:t>
            </a:r>
            <a:r>
              <a:rPr sz="1600" b="0" i="0">
                <a:solidFill>
                  <a:srgbClr val="505050"/>
                </a:solidFill>
                <a:latin typeface="Arial"/>
              </a:rPr>
              <a:t> Serves as operational guidance for dispatchers (no auto-billing).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 i="0">
                <a:solidFill>
                  <a:srgbClr val="0F2240"/>
                </a:solidFill>
                <a:latin typeface="Arial"/>
              </a:rPr>
              <a:t>4. Quotations Workflow</a:t>
            </a:r>
          </a:p>
        </p:txBody>
      </p:sp>
      <p:sp>
        <p:nvSpPr>
          <p:cNvPr id="3" name="Oval 2"/>
          <p:cNvSpPr/>
          <p:nvPr/>
        </p:nvSpPr>
        <p:spPr>
          <a:xfrm>
            <a:off x="457200" y="1097280"/>
            <a:ext cx="8229600" cy="0"/>
          </a:xfrm>
          <a:prstGeom prst="ellipse">
            <a:avLst/>
          </a:prstGeom>
          <a:ln w="25400">
            <a:solidFill>
              <a:srgbClr val="0F22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</a:pPr>
            <a:r>
              <a:rPr sz="1800" b="1" i="0">
                <a:solidFill>
                  <a:srgbClr val="212121"/>
                </a:solidFill>
                <a:latin typeface="Arial"/>
              </a:rPr>
              <a:t>• Job Integration:</a:t>
            </a:r>
            <a:r>
              <a:rPr sz="1600" b="0" i="0">
                <a:solidFill>
                  <a:srgbClr val="505050"/>
                </a:solidFill>
                <a:latin typeface="Arial"/>
              </a:rPr>
              <a:t> Generate quotes natively from active Job Cards.</a:t>
            </a:r>
          </a:p>
          <a:p>
            <a:pPr>
              <a:spcBef>
                <a:spcPts val="1200"/>
              </a:spcBef>
            </a:pPr>
            <a:r>
              <a:rPr sz="1800" b="1" i="0">
                <a:solidFill>
                  <a:srgbClr val="212121"/>
                </a:solidFill>
                <a:latin typeface="Arial"/>
              </a:rPr>
              <a:t>• Smart Calculation:</a:t>
            </a:r>
            <a:r>
              <a:rPr sz="1600" b="0" i="0">
                <a:solidFill>
                  <a:srgbClr val="505050"/>
                </a:solidFill>
                <a:latin typeface="Arial"/>
              </a:rPr>
              <a:t> System auto-totals labor hours, parts, and applies global markups.</a:t>
            </a:r>
          </a:p>
          <a:p>
            <a:pPr>
              <a:spcBef>
                <a:spcPts val="1200"/>
              </a:spcBef>
            </a:pPr>
            <a:r>
              <a:rPr sz="1800" b="1" i="0">
                <a:solidFill>
                  <a:srgbClr val="212121"/>
                </a:solidFill>
                <a:latin typeface="Arial"/>
              </a:rPr>
              <a:t>• Status Tracking:</a:t>
            </a:r>
            <a:r>
              <a:rPr sz="1600" b="0" i="0">
                <a:solidFill>
                  <a:srgbClr val="505050"/>
                </a:solidFill>
                <a:latin typeface="Arial"/>
              </a:rPr>
              <a:t> Manage quotes across Draft, Sent, Accepted, or Rejected states.</a:t>
            </a:r>
          </a:p>
          <a:p>
            <a:pPr>
              <a:spcBef>
                <a:spcPts val="1200"/>
              </a:spcBef>
            </a:pPr>
            <a:r>
              <a:rPr sz="1800" b="1" i="0">
                <a:solidFill>
                  <a:srgbClr val="212121"/>
                </a:solidFill>
                <a:latin typeface="Arial"/>
              </a:rPr>
              <a:t>• Zero Double-Entry:</a:t>
            </a:r>
            <a:r>
              <a:rPr sz="1600" b="0" i="0">
                <a:solidFill>
                  <a:srgbClr val="505050"/>
                </a:solidFill>
                <a:latin typeface="Arial"/>
              </a:rPr>
              <a:t> Accepting a quote automatically generates the final Tax Invoice.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