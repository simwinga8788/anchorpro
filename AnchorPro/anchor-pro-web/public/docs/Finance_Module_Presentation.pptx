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7772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C8C8C8"/>
                </a:solidFill>
                <a:latin typeface="Arial"/>
              </a:rPr>
              <a:t>Anchor Pro Training Suite
</a:t>
            </a:r>
          </a:p>
          <a:p>
            <a:pPr algn="l">
              <a:spcBef>
                <a:spcPts val="1200"/>
              </a:spcBef>
            </a:pPr>
            <a:r>
              <a:rPr sz="4000" b="1" i="0">
                <a:solidFill>
                  <a:srgbClr val="FFFFFF"/>
                </a:solidFill>
                <a:latin typeface="Arial"/>
              </a:rPr>
              <a:t>Finance Module</a:t>
            </a:r>
          </a:p>
          <a:p>
            <a:pPr algn="l">
              <a:spcBef>
                <a:spcPts val="2400"/>
              </a:spcBef>
            </a:pPr>
            <a:r>
              <a:rPr sz="1400" b="0" i="1">
                <a:solidFill>
                  <a:srgbClr val="A0A0A0"/>
                </a:solidFill>
                <a:latin typeface="Arial"/>
              </a:rPr>
              <a:t>Standard Corporate Training &amp; Operations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i="0">
                <a:solidFill>
                  <a:srgbClr val="0F2240"/>
                </a:solidFill>
                <a:latin typeface="Arial"/>
              </a:rPr>
              <a:t>Corporate Cashbook &amp; General Ledger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600" b="1" i="0">
                <a:solidFill>
                  <a:srgbClr val="212121"/>
                </a:solidFill>
                <a:latin typeface="Arial"/>
              </a:rPr>
              <a:t>• Reconciled Balance Sheet:</a:t>
            </a:r>
            <a:r>
              <a:rPr sz="1500" b="0" i="0">
                <a:solidFill>
                  <a:srgbClr val="4B4B4B"/>
                </a:solidFill>
                <a:latin typeface="Arial"/>
              </a:rPr>
              <a:t> Real-time Cashbook tracking cash flow.</a:t>
            </a:r>
          </a:p>
          <a:p>
            <a:pPr>
              <a:spcBef>
                <a:spcPts val="800"/>
              </a:spcBef>
            </a:pPr>
            <a:r>
              <a:rPr sz="1600" b="1" i="0">
                <a:solidFill>
                  <a:srgbClr val="212121"/>
                </a:solidFill>
                <a:latin typeface="Arial"/>
              </a:rPr>
              <a:t>• Auto Cash-In:</a:t>
            </a:r>
            <a:r>
              <a:rPr sz="1500" b="0" i="0">
                <a:solidFill>
                  <a:srgbClr val="4B4B4B"/>
                </a:solidFill>
                <a:latin typeface="Arial"/>
              </a:rPr>
              <a:t> Invoices payments sync instantly to Cashbook revenue.</a:t>
            </a:r>
          </a:p>
          <a:p>
            <a:pPr>
              <a:spcBef>
                <a:spcPts val="800"/>
              </a:spcBef>
            </a:pPr>
            <a:r>
              <a:rPr sz="1600" b="1" i="0">
                <a:solidFill>
                  <a:srgbClr val="212121"/>
                </a:solidFill>
                <a:latin typeface="Arial"/>
              </a:rPr>
              <a:t>• Auto Cash-Out:</a:t>
            </a:r>
            <a:r>
              <a:rPr sz="1500" b="0" i="0">
                <a:solidFill>
                  <a:srgbClr val="4B4B4B"/>
                </a:solidFill>
                <a:latin typeface="Arial"/>
              </a:rPr>
              <a:t> Payroll payouts and vendor bills sync to expenses.</a:t>
            </a:r>
          </a:p>
          <a:p>
            <a:pPr>
              <a:spcBef>
                <a:spcPts val="800"/>
              </a:spcBef>
            </a:pPr>
            <a:r>
              <a:rPr sz="1600" b="1" i="0">
                <a:solidFill>
                  <a:srgbClr val="212121"/>
                </a:solidFill>
                <a:latin typeface="Arial"/>
              </a:rPr>
              <a:t>• P&amp;L Visualization:</a:t>
            </a:r>
            <a:r>
              <a:rPr sz="1500" b="0" i="0">
                <a:solidFill>
                  <a:srgbClr val="4B4B4B"/>
                </a:solidFill>
                <a:latin typeface="Arial"/>
              </a:rPr>
              <a:t> Displays total earnings, expenses, and net profit.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i="0">
                <a:solidFill>
                  <a:srgbClr val="0F2240"/>
                </a:solidFill>
                <a:latin typeface="Arial"/>
              </a:rPr>
              <a:t>Billing &amp; Receivables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600" b="1" i="0">
                <a:solidFill>
                  <a:srgbClr val="212121"/>
                </a:solidFill>
                <a:latin typeface="Arial"/>
              </a:rPr>
              <a:t>• Job-to-Invoice Sync:</a:t>
            </a:r>
            <a:r>
              <a:rPr sz="1500" b="0" i="0">
                <a:solidFill>
                  <a:srgbClr val="4B4B4B"/>
                </a:solidFill>
                <a:latin typeface="Arial"/>
              </a:rPr>
              <a:t> Customer billing matches parts + labor costs.</a:t>
            </a:r>
          </a:p>
          <a:p>
            <a:pPr>
              <a:spcBef>
                <a:spcPts val="800"/>
              </a:spcBef>
            </a:pPr>
            <a:r>
              <a:rPr sz="1600" b="1" i="0">
                <a:solidFill>
                  <a:srgbClr val="212121"/>
                </a:solidFill>
                <a:latin typeface="Arial"/>
              </a:rPr>
              <a:t>• Payment Stages:</a:t>
            </a:r>
            <a:r>
              <a:rPr sz="1500" b="0" i="0">
                <a:solidFill>
                  <a:srgbClr val="4B4B4B"/>
                </a:solidFill>
                <a:latin typeface="Arial"/>
              </a:rPr>
              <a:t> Track Unpaid, Partially Paid, and Paid invoices.</a:t>
            </a:r>
          </a:p>
          <a:p>
            <a:pPr>
              <a:spcBef>
                <a:spcPts val="800"/>
              </a:spcBef>
            </a:pPr>
            <a:r>
              <a:rPr sz="1600" b="1" i="0">
                <a:solidFill>
                  <a:srgbClr val="212121"/>
                </a:solidFill>
                <a:latin typeface="Arial"/>
              </a:rPr>
              <a:t>• Aging Alerts:</a:t>
            </a:r>
            <a:r>
              <a:rPr sz="1500" b="0" i="0">
                <a:solidFill>
                  <a:srgbClr val="4B4B4B"/>
                </a:solidFill>
                <a:latin typeface="Arial"/>
              </a:rPr>
              <a:t> Visual indicator flags overdue accounts based on terms.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i="0">
                <a:solidFill>
                  <a:srgbClr val="0F2240"/>
                </a:solidFill>
                <a:latin typeface="Arial"/>
              </a:rPr>
              <a:t>Approval Workflows &amp;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600" b="1" i="0">
                <a:solidFill>
                  <a:srgbClr val="212121"/>
                </a:solidFill>
                <a:latin typeface="Arial"/>
              </a:rPr>
              <a:t>• PO Approvals:</a:t>
            </a:r>
            <a:r>
              <a:rPr sz="1500" b="0" i="0">
                <a:solidFill>
                  <a:srgbClr val="4B4B4B"/>
                </a:solidFill>
                <a:latin typeface="Arial"/>
              </a:rPr>
              <a:t> Finance approval queue for purchase orders.</a:t>
            </a:r>
          </a:p>
          <a:p>
            <a:pPr>
              <a:spcBef>
                <a:spcPts val="800"/>
              </a:spcBef>
            </a:pPr>
            <a:r>
              <a:rPr sz="1600" b="1" i="0">
                <a:solidFill>
                  <a:srgbClr val="212121"/>
                </a:solidFill>
                <a:latin typeface="Arial"/>
              </a:rPr>
              <a:t>• Quotation Control:</a:t>
            </a:r>
            <a:r>
              <a:rPr sz="1500" b="0" i="0">
                <a:solidFill>
                  <a:srgbClr val="4B4B4B"/>
                </a:solidFill>
                <a:latin typeface="Arial"/>
              </a:rPr>
              <a:t> Quotation auditing prior to customer dispatch.</a:t>
            </a:r>
          </a:p>
          <a:p>
            <a:pPr>
              <a:spcBef>
                <a:spcPts val="800"/>
              </a:spcBef>
            </a:pPr>
            <a:r>
              <a:rPr sz="1600" b="1" i="0">
                <a:solidFill>
                  <a:srgbClr val="212121"/>
                </a:solidFill>
                <a:latin typeface="Arial"/>
              </a:rPr>
              <a:t>• Rejection Logs:</a:t>
            </a:r>
            <a:r>
              <a:rPr sz="1500" b="0" i="0">
                <a:solidFill>
                  <a:srgbClr val="4B4B4B"/>
                </a:solidFill>
                <a:latin typeface="Arial"/>
              </a:rPr>
              <a:t> Mandatory text explanations for rejected POs.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