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nchorPr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1104" y="1371600"/>
            <a:ext cx="36576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474720"/>
            <a:ext cx="103601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4800" b="1">
                <a:solidFill>
                  <a:srgbClr val="FFFFFF"/>
                </a:solidFill>
                <a:latin typeface="Barlow Condensed"/>
              </a:defRPr>
            </a:pPr>
            <a:r>
              <a:t>ANCHOR PRO</a:t>
            </a:r>
          </a:p>
          <a:p>
            <a:pPr algn="ctr">
              <a:defRPr sz="2000">
                <a:solidFill>
                  <a:srgbClr val="4D9EFF"/>
                </a:solidFill>
                <a:latin typeface="Calibri"/>
              </a:defRPr>
            </a:pPr>
            <a:r>
              <a:t>Enterprise Field Operations &amp; Asset Costing Ecosystem</a:t>
            </a:r>
          </a:p>
          <a:p>
            <a:pPr algn="ctr">
              <a:spcBef>
                <a:spcPts val="1600"/>
              </a:spcBef>
              <a:defRPr sz="1400">
                <a:solidFill>
                  <a:srgbClr val="9CA3AF"/>
                </a:solidFill>
                <a:latin typeface="Calibri"/>
              </a:defRPr>
            </a:pPr>
            <a:r>
              <a:t>Multi-Tenant SaaS Platform for Heavy Industries, Contractors &amp; Workshops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D9EFF"/>
                </a:solidFill>
                <a:latin typeface="Calibri"/>
              </a:defRPr>
            </a:pPr>
            <a:r>
              <a:t>INDUSTRY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Barlow Semi Condensed"/>
              </a:defRPr>
            </a:pPr>
            <a:r>
              <a:t>The Cost of Operational Friction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600">
                <a:solidFill>
                  <a:srgbClr val="4D9EFF"/>
                </a:solidFill>
                <a:latin typeface="Calibri"/>
              </a:rPr>
              <a:t>Unplanned Asset Downtime: </a:t>
            </a:r>
            <a:r>
              <a:rPr sz="1600">
                <a:solidFill>
                  <a:srgbClr val="FFFFFF"/>
                </a:solidFill>
                <a:latin typeface="Calibri"/>
              </a:rPr>
              <a:t> Breakdown of heavy equipment (CAT trucks, excavators, HVAC) costs thousands per hour in lost production.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4D9EFF"/>
                </a:solidFill>
                <a:latin typeface="Calibri"/>
              </a:rPr>
              <a:t>Lost Financial Visibility: </a:t>
            </a:r>
            <a:r>
              <a:rPr sz="1600">
                <a:solidFill>
                  <a:srgbClr val="FFFFFF"/>
                </a:solidFill>
                <a:latin typeface="Calibri"/>
              </a:rPr>
              <a:t> Paper job cards get lost; parts are consumed without invoices being updated, leaking critical profit margins.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4D9EFF"/>
                </a:solidFill>
                <a:latin typeface="Calibri"/>
              </a:rPr>
              <a:t>Safety Compliance Risks: </a:t>
            </a:r>
            <a:r>
              <a:rPr sz="1600">
                <a:solidFill>
                  <a:srgbClr val="FFFFFF"/>
                </a:solidFill>
                <a:latin typeface="Calibri"/>
              </a:rPr>
              <a:t> Hazardous sites require strict 'Permit to Work' procedures. Bypassing safety checksheets creates immense liability.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4D9EFF"/>
                </a:solidFill>
                <a:latin typeface="Calibri"/>
              </a:rPr>
              <a:t>Disconnected Systems: </a:t>
            </a:r>
            <a:r>
              <a:rPr sz="1600">
                <a:solidFill>
                  <a:srgbClr val="FFFFFF"/>
                </a:solidFill>
                <a:latin typeface="Calibri"/>
              </a:rPr>
              <a:t> Operations scheduling, inventory warehouses, and billing office operate in silos, requiring manual reconciliation.</a:t>
            </a:r>
          </a:p>
        </p:txBody>
      </p:sp>
      <p:pic>
        <p:nvPicPr>
          <p:cNvPr id="6" name="Picture 5" descr="media__17810945666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463040"/>
            <a:ext cx="30175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D9EFF"/>
                </a:solidFill>
                <a:latin typeface="Calibri"/>
              </a:defRPr>
            </a:pPr>
            <a:r>
              <a:t>THE ANCHOR PRO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Barlow Semi Condensed"/>
              </a:defRPr>
            </a:pPr>
            <a:r>
              <a:t>One Platform. Connected Operations.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645920"/>
            <a:ext cx="6675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500">
                <a:solidFill>
                  <a:srgbClr val="4D9EFF"/>
                </a:solidFill>
                <a:latin typeface="Calibri"/>
              </a:rPr>
              <a:t>Interactive Job Cards: </a:t>
            </a:r>
            <a:r>
              <a:rPr sz="1500">
                <a:solidFill>
                  <a:srgbClr val="FFFFFF"/>
                </a:solidFill>
                <a:latin typeface="Calibri"/>
              </a:rPr>
              <a:t> Track work orders from request to completion with live technician progress indicators.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4D9EFF"/>
                </a:solidFill>
                <a:latin typeface="Calibri"/>
              </a:rPr>
              <a:t>Automated Cost Costing: </a:t>
            </a:r>
            <a:r>
              <a:rPr sz="1500">
                <a:solidFill>
                  <a:srgbClr val="FFFFFF"/>
                </a:solidFill>
                <a:latin typeface="Calibri"/>
              </a:rPr>
              <a:t> Real-time gross margin calculation based on consumed inventory stock costs &amp; technician hourly labor rates.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4D9EFF"/>
                </a:solidFill>
                <a:latin typeface="Calibri"/>
              </a:rPr>
              <a:t>Natively Integrated HSE: </a:t>
            </a:r>
            <a:r>
              <a:rPr sz="1500">
                <a:solidFill>
                  <a:srgbClr val="FFFFFF"/>
                </a:solidFill>
                <a:latin typeface="Calibri"/>
              </a:rPr>
              <a:t> Pre-work safety checklists and Permit to Work (PTW) gates natively block tasks until supervisor sign-off.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4D9EFF"/>
                </a:solidFill>
                <a:latin typeface="Calibri"/>
              </a:rPr>
              <a:t>Multi-Tenant Architecture: </a:t>
            </a:r>
            <a:r>
              <a:rPr sz="1500">
                <a:solidFill>
                  <a:srgbClr val="FFFFFF"/>
                </a:solidFill>
                <a:latin typeface="Calibri"/>
              </a:rPr>
              <a:t> Isolated secure tenant database workspaces with individual billing and system configurations.</a:t>
            </a:r>
          </a:p>
        </p:txBody>
      </p:sp>
      <p:pic>
        <p:nvPicPr>
          <p:cNvPr id="6" name="Picture 5" descr="media__17810907757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365760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D9EFF"/>
                </a:solidFill>
                <a:latin typeface="Calibri"/>
              </a:defRPr>
            </a:pPr>
            <a:r>
              <a:t>EXECUTIVE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Barlow Semi Condensed"/>
              </a:defRPr>
            </a:pPr>
            <a:r>
              <a:t>Real-Time Executive Intelligence &amp;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500">
                <a:solidFill>
                  <a:srgbClr val="4D9EFF"/>
                </a:solidFill>
                <a:latin typeface="Calibri"/>
              </a:rPr>
              <a:t>Job Completion Rates: </a:t>
            </a:r>
            <a:r>
              <a:rPr sz="1500">
                <a:solidFill>
                  <a:srgbClr val="FFFFFF"/>
                </a:solidFill>
                <a:latin typeface="Calibri"/>
              </a:rPr>
              <a:t> Track team utilization and SLA compliance instantly.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4D9EFF"/>
                </a:solidFill>
                <a:latin typeface="Calibri"/>
              </a:rPr>
              <a:t>Financial Health at a Glance: </a:t>
            </a:r>
            <a:r>
              <a:rPr sz="1500">
                <a:solidFill>
                  <a:srgbClr val="FFFFFF"/>
                </a:solidFill>
                <a:latin typeface="Calibri"/>
              </a:rPr>
              <a:t> Natively monitors gross revenue, parts cost overheads, and net profit margins.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4D9EFF"/>
                </a:solidFill>
                <a:latin typeface="Calibri"/>
              </a:rPr>
              <a:t>Downtime Reporting: </a:t>
            </a:r>
            <a:r>
              <a:rPr sz="1500">
                <a:solidFill>
                  <a:srgbClr val="FFFFFF"/>
                </a:solidFill>
                <a:latin typeface="Calibri"/>
              </a:rPr>
              <a:t> Visualizes equipment uptime/downtime by category to pinpoint machinery failures before they happen.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4D9EFF"/>
                </a:solidFill>
                <a:latin typeface="Calibri"/>
              </a:rPr>
              <a:t>Department Snapshots: </a:t>
            </a:r>
            <a:r>
              <a:rPr sz="1500">
                <a:solidFill>
                  <a:srgbClr val="FFFFFF"/>
                </a:solidFill>
                <a:latin typeface="Calibri"/>
              </a:rPr>
              <a:t> Direct comparison of maintenance performance across workshop divisions (e.g. Electrical, Mechanical).</a:t>
            </a:r>
          </a:p>
        </p:txBody>
      </p:sp>
      <p:pic>
        <p:nvPicPr>
          <p:cNvPr id="6" name="Picture 5" descr="media__17810907757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2120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D9EFF"/>
                </a:solidFill>
                <a:latin typeface="Calibri"/>
              </a:defRPr>
            </a:pPr>
            <a:r>
              <a:t>FIELD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Barlow Semi Condensed"/>
              </a:defRPr>
            </a:pPr>
            <a:r>
              <a:t>End-to-End Job Card Lifecycle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500">
                <a:solidFill>
                  <a:srgbClr val="4D9EFF"/>
                </a:solidFill>
                <a:latin typeface="Calibri"/>
              </a:rPr>
              <a:t>Split-Pane Workspace: </a:t>
            </a:r>
            <a:r>
              <a:rPr sz="1500">
                <a:solidFill>
                  <a:srgbClr val="FFFFFF"/>
                </a:solidFill>
                <a:latin typeface="Calibri"/>
              </a:rPr>
              <a:t> Master-detail assignments screen displays pending jobs alongside interactive controls for field mechanics.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4D9EFF"/>
                </a:solidFill>
                <a:latin typeface="Calibri"/>
              </a:rPr>
              <a:t>Instant Job Costing: </a:t>
            </a:r>
            <a:r>
              <a:rPr sz="1500">
                <a:solidFill>
                  <a:srgbClr val="FFFFFF"/>
                </a:solidFill>
                <a:latin typeface="Calibri"/>
              </a:rPr>
              <a:t> Tracks labor hours and inventory reservation. Automatically deducts quantities from the warehouse bin.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4D9EFF"/>
                </a:solidFill>
                <a:latin typeface="Calibri"/>
              </a:rPr>
              <a:t>One-Click Invoicing: </a:t>
            </a:r>
            <a:r>
              <a:rPr sz="1500">
                <a:solidFill>
                  <a:srgbClr val="FFFFFF"/>
                </a:solidFill>
                <a:latin typeface="Calibri"/>
              </a:rPr>
              <a:t> Generates clean quotations and client invoices directly from service logs without external accounting software.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4D9EFF"/>
                </a:solidFill>
                <a:latin typeface="Calibri"/>
              </a:rPr>
              <a:t>Technician Dispatch: </a:t>
            </a:r>
            <a:r>
              <a:rPr sz="1500">
                <a:solidFill>
                  <a:srgbClr val="FFFFFF"/>
                </a:solidFill>
                <a:latin typeface="Calibri"/>
              </a:rPr>
              <a:t> Soft caps active jobs per mechanic to prevent overload and optimize response time.</a:t>
            </a:r>
          </a:p>
        </p:txBody>
      </p:sp>
      <p:pic>
        <p:nvPicPr>
          <p:cNvPr id="6" name="Picture 5" descr="media__17811249846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52120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D9EFF"/>
                </a:solidFill>
                <a:latin typeface="Calibri"/>
              </a:defRPr>
            </a:pPr>
            <a:r>
              <a:t>HSE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Barlow Semi Condensed"/>
              </a:defRPr>
            </a:pPr>
            <a:r>
              <a:t>Enforcing Health &amp; Safety on 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132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600">
                <a:solidFill>
                  <a:srgbClr val="4D9EFF"/>
                </a:solidFill>
                <a:latin typeface="Calibri"/>
              </a:rPr>
              <a:t>Permit to Work (PTW) Gate: </a:t>
            </a:r>
            <a:r>
              <a:rPr sz="1600">
                <a:solidFill>
                  <a:srgbClr val="FFFFFF"/>
                </a:solidFill>
                <a:latin typeface="Calibri"/>
              </a:rPr>
              <a:t> Core system lock. Hazardous jobs cannot move to 'In Progress' until digital safety permits are approved.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4D9EFF"/>
                </a:solidFill>
                <a:latin typeface="Calibri"/>
              </a:rPr>
              <a:t>Mobile Inspection Checklists: </a:t>
            </a:r>
            <a:r>
              <a:rPr sz="1600">
                <a:solidFill>
                  <a:srgbClr val="FFFFFF"/>
                </a:solidFill>
                <a:latin typeface="Calibri"/>
              </a:rPr>
              <a:t> Field mechanics complete mandatory checklist steps directly on site using browser-compatible PWA.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4D9EFF"/>
                </a:solidFill>
                <a:latin typeface="Calibri"/>
              </a:rPr>
              <a:t>Immutable Audit Logs: </a:t>
            </a:r>
            <a:r>
              <a:rPr sz="1600">
                <a:solidFill>
                  <a:srgbClr val="FFFFFF"/>
                </a:solidFill>
                <a:latin typeface="Calibri"/>
              </a:rPr>
              <a:t> System tracks every state change, technician check-in, and safety permit sign-off for legal compliance.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4D9EFF"/>
                </a:solidFill>
                <a:latin typeface="Calibri"/>
              </a:rPr>
              <a:t>Low-Stock Alerts: </a:t>
            </a:r>
            <a:r>
              <a:rPr sz="1600">
                <a:solidFill>
                  <a:srgbClr val="FFFFFF"/>
                </a:solidFill>
                <a:latin typeface="Calibri"/>
              </a:rPr>
              <a:t> Prevents safety incidents by warning storekeepers when critical spare parts drop below critical reorder limits.</a:t>
            </a:r>
          </a:p>
        </p:txBody>
      </p:sp>
      <p:pic>
        <p:nvPicPr>
          <p:cNvPr id="6" name="Picture 5" descr="media__17810905646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645920"/>
            <a:ext cx="30175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D9EFF"/>
                </a:solidFill>
                <a:latin typeface="Calibri"/>
              </a:defRPr>
            </a:pPr>
            <a:r>
              <a:t>DATA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Barlow Semi Condensed"/>
              </a:defRPr>
            </a:pPr>
            <a:r>
              <a:t>Zero-Friction Client Onboarding &amp; Data Import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828800"/>
            <a:ext cx="6675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500">
                <a:solidFill>
                  <a:srgbClr val="4D9EFF"/>
                </a:solidFill>
                <a:latin typeface="Calibri"/>
              </a:rPr>
              <a:t>Bulk Excel/CSV Import: </a:t>
            </a:r>
            <a:r>
              <a:rPr sz="1500">
                <a:solidFill>
                  <a:srgbClr val="FFFFFF"/>
                </a:solidFill>
                <a:latin typeface="Calibri"/>
              </a:rPr>
              <a:t> Instantly import existing spreadsheets containing thousands of Assets, Parts Inventories, or Tools.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4D9EFF"/>
                </a:solidFill>
                <a:latin typeface="Calibri"/>
              </a:rPr>
              <a:t>Excel Validation Dropdowns: </a:t>
            </a:r>
            <a:r>
              <a:rPr sz="1500">
                <a:solidFill>
                  <a:srgbClr val="FFFFFF"/>
                </a:solidFill>
                <a:latin typeface="Calibri"/>
              </a:rPr>
              <a:t> Custom template generator embeds valid statuses (e.g. InProgress, Available) directly into Excel dropdowns.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4D9EFF"/>
                </a:solidFill>
                <a:latin typeface="Calibri"/>
              </a:rPr>
              <a:t>Auto-Provisioning Rules: </a:t>
            </a:r>
            <a:r>
              <a:rPr sz="1500">
                <a:solidFill>
                  <a:srgbClr val="FFFFFF"/>
                </a:solidFill>
                <a:latin typeface="Calibri"/>
              </a:rPr>
              <a:t> Auto-creates missing departments on-the-fly during CSV parsing and generates sequential serial tags.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4D9EFF"/>
                </a:solidFill>
                <a:latin typeface="Calibri"/>
              </a:rPr>
              <a:t>Seamless Upserts: </a:t>
            </a:r>
            <a:r>
              <a:rPr sz="1500">
                <a:solidFill>
                  <a:srgbClr val="FFFFFF"/>
                </a:solidFill>
                <a:latin typeface="Calibri"/>
              </a:rPr>
              <a:t> Syncs inventory quantities based on unique Part Numbers instead of creating duplicate records.</a:t>
            </a:r>
          </a:p>
        </p:txBody>
      </p:sp>
      <p:pic>
        <p:nvPicPr>
          <p:cNvPr id="6" name="Picture 5" descr="media__17810064467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365760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D9EFF"/>
                </a:solidFill>
                <a:latin typeface="Calibri"/>
              </a:defRPr>
            </a:pPr>
            <a:r>
              <a:t>ECOSYSTEM &amp; INTEGRATIONS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Barlow Semi Condensed"/>
              </a:defRPr>
            </a:pPr>
            <a:r>
              <a:t>Connected Ecosystems: Retrix Car Rental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500">
                <a:solidFill>
                  <a:srgbClr val="4D9EFF"/>
                </a:solidFill>
                <a:latin typeface="Calibri"/>
              </a:rPr>
              <a:t>Automated Damage Pipeline: </a:t>
            </a:r>
            <a:r>
              <a:rPr sz="1500">
                <a:solidFill>
                  <a:srgbClr val="FFFFFF"/>
                </a:solidFill>
                <a:latin typeface="Calibri"/>
              </a:rPr>
              <a:t> Damage reports logged on Retrix vehicle returns automatically trigger a Job Card in Anchor Pro.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4D9EFF"/>
                </a:solidFill>
                <a:latin typeface="Calibri"/>
              </a:rPr>
              <a:t>Mechanic Auto-Dispatch: </a:t>
            </a:r>
            <a:r>
              <a:rPr sz="1500">
                <a:solidFill>
                  <a:srgbClr val="FFFFFF"/>
                </a:solidFill>
                <a:latin typeface="Calibri"/>
              </a:rPr>
              <a:t> System schedules the repair order and alerts the workshop mechanics via SMS/mobile push notifications.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4D9EFF"/>
                </a:solidFill>
                <a:latin typeface="Calibri"/>
              </a:rPr>
              <a:t>Parts Reservation: </a:t>
            </a:r>
            <a:r>
              <a:rPr sz="1500">
                <a:solidFill>
                  <a:srgbClr val="FFFFFF"/>
                </a:solidFill>
                <a:latin typeface="Calibri"/>
              </a:rPr>
              <a:t> Instant parts booking matches the vehicle make &amp; model to avoid procurement delays.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4D9EFF"/>
                </a:solidFill>
                <a:latin typeface="Calibri"/>
              </a:rPr>
              <a:t>Telemetry Status Loop: </a:t>
            </a:r>
            <a:r>
              <a:rPr sz="1500">
                <a:solidFill>
                  <a:srgbClr val="FFFFFF"/>
                </a:solidFill>
                <a:latin typeface="Calibri"/>
              </a:rPr>
              <a:t> Updates Retrix as 'Ready for Rental' the moment the mechanic completes the job checklist.</a:t>
            </a:r>
          </a:p>
        </p:txBody>
      </p:sp>
      <p:pic>
        <p:nvPicPr>
          <p:cNvPr id="6" name="Picture 5" descr="media__17810945666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645920"/>
            <a:ext cx="30175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D9EFF"/>
                </a:solidFill>
                <a:latin typeface="Calibri"/>
              </a:defRPr>
            </a:pPr>
            <a: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Barlow Semi Condensed"/>
              </a:defRPr>
            </a:pPr>
            <a:r>
              <a:t>Predictive B2B SaaS Monetization Tiers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600">
                <a:solidFill>
                  <a:srgbClr val="4D9EFF"/>
                </a:solidFill>
                <a:latin typeface="Calibri"/>
              </a:rPr>
              <a:t>Free Trial (14-Days): </a:t>
            </a:r>
            <a:r>
              <a:rPr sz="1600">
                <a:solidFill>
                  <a:srgbClr val="FFFFFF"/>
                </a:solidFill>
                <a:latin typeface="Calibri"/>
              </a:rPr>
              <a:t> Frictionless trial (max 2 technicians, 10 active jobs) with pre-seeded demo data for quick onboarding.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4D9EFF"/>
                </a:solidFill>
                <a:latin typeface="Calibri"/>
              </a:rPr>
              <a:t>Professional Tier: </a:t>
            </a:r>
            <a:r>
              <a:rPr sz="1600">
                <a:solidFill>
                  <a:srgbClr val="FFFFFF"/>
                </a:solidFill>
                <a:latin typeface="Calibri"/>
              </a:rPr>
              <a:t> Geared toward growing mid-size workshops. Includes all core modules, bulk exports, and SLA warning rules.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4D9EFF"/>
                </a:solidFill>
                <a:latin typeface="Calibri"/>
              </a:rPr>
              <a:t>Enterprise Tier: </a:t>
            </a:r>
            <a:r>
              <a:rPr sz="1600">
                <a:solidFill>
                  <a:srgbClr val="FFFFFF"/>
                </a:solidFill>
                <a:latin typeface="Calibri"/>
              </a:rPr>
              <a:t> Unlimited scale, REST API endpoints access, customized dynamic nomenclature terms, and dedicated priority support.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4D9EFF"/>
                </a:solidFill>
                <a:latin typeface="Calibri"/>
              </a:rPr>
              <a:t>Low Friction PLG Loops: </a:t>
            </a:r>
            <a:r>
              <a:rPr sz="1600">
                <a:solidFill>
                  <a:srgbClr val="FFFFFF"/>
                </a:solidFill>
                <a:latin typeface="Calibri"/>
              </a:rPr>
              <a:t> Pre-populated sandboxes let prospects test-drive a fully populated company environment in under 10 seconds.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400"/>
              </a:spcAft>
              <a:defRPr sz="3600" b="1">
                <a:solidFill>
                  <a:srgbClr val="4D9EFF"/>
                </a:solidFill>
                <a:latin typeface="Barlow Semi Condensed"/>
              </a:defRPr>
            </a:pPr>
            <a:r>
              <a:t>Let's Scale Field Service Management Together</a:t>
            </a:r>
          </a:p>
          <a:p>
            <a:pPr algn="ctr">
              <a:spcAft>
                <a:spcPts val="4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Empower your field teams. Enforce safety compliance. Drive gross margins.</a:t>
            </a:r>
          </a:p>
          <a:p>
            <a:pPr algn="ctr">
              <a:spcAft>
                <a:spcPts val="1200"/>
              </a:spcAft>
              <a:defRPr sz="2400" b="1">
                <a:solidFill>
                  <a:srgbClr val="22C55E"/>
                </a:solidFill>
                <a:latin typeface="Consolas"/>
              </a:defRPr>
            </a:pPr>
            <a:r>
              <a:t>support@anchorpro.co.zm</a:t>
            </a:r>
          </a:p>
          <a:p>
            <a:pPr algn="ctr">
              <a:defRPr sz="1600">
                <a:solidFill>
                  <a:srgbClr val="9CA3AF"/>
                </a:solidFill>
                <a:latin typeface="Calibri"/>
              </a:defRPr>
            </a:pPr>
            <a:r>
              <a:t>www.anchorpro.co.zm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